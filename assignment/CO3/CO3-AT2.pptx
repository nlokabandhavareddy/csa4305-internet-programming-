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FF4CCF6-220D-4E54-BBE3-CE0963189C48}" type="slidenum"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Welcome everyone. Today we are going to learn about the Servlet Life Cycle in a way that is simple, clear, and easy to remember.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We will use a Restaurant Analogy to explain how Java Web Applications handle traffic behind the scenes.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Let's break down our analogy: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1. The Web Container (like Tomcat) is the Restaurant Manager. It handles all traffic.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2. The Servlet is the Chef in the kitchen who knows how to make the dishes.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3. Customer requests are the food orders.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4. Threads are the waiters serving multiple tables at the same time.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Think of init() as setup time. The chef gets database connections ready, reads config settings, and sets up cache memory.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Because it runs only once, we load all heavy tasks here to keep the rest of the application fast.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The service() method is the workhorse. It processes every single client request.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It acts as a router, checking if the request is a GET, POST, or PUT, and hands it to doGet() or doPost().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Since multiple threads call this method simultaneously, the servlet must not store client data in instance variables (which would mix up the orders).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This flow traces the lifecycle sequence. The main point to remember is that creation/init and destruction happen only once, while request servicing happens millions of times.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The destroy() phase is all about resource cleanup. The container ensures all active client threads finish processing before running destroy(). Once done, the garbage collector cleans up the memory.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Key takeaways for performance: stateless servlets are thread-safe and scale automatically. Eager initialization avoids latency spikes, and resource pools save memory.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700C30-7EB7-4896-974F-DB5D015ED6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4E1CFC-0C8A-4F5E-826D-745BC1129B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B87B43D-9295-4EA2-AB08-1CE491220D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D05D48F-9A2D-4E85-80B8-2C6A96D24C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25D1B3E-8600-4B97-8DC4-6D4DAEC55B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B130CFB-6E83-4252-BABC-7DF9218B41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07AD393-6CEE-41D4-BE3F-862FB45160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78918B3-EDCF-4749-9059-7A958FFF49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29FCD4B-8F22-45B9-AE8D-DB8D9DE374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460DF68-6B5E-4EA6-A631-669C0DFD38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58E17CF-9E7B-4B80-9AE2-F1527803C2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478DDD-6F8B-466E-9DA8-46FD043BB8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69A52E-36F8-4C64-9CB4-5CD7CFBDF72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D43441-F7B9-452A-AE58-0D611F06583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1440B8-4DA9-4084-A082-23A90D4CCF1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95BD89-292D-49B9-9C45-93EBC4202BD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92C71E-077A-462A-8FD9-B189AB781ED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07DED9-D64E-4A48-B5F6-AA162A0E65F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D8AE96-6A51-468A-AD0E-0552EBDED80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D5A89B-E83F-411E-AD94-01BB3B065B0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B0DD4E-955A-4CBC-91AC-A3FEA0EB2FC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0EFE18-18C1-4ACC-A45B-FC17B816A9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457200" y="1828800"/>
            <a:ext cx="8229240" cy="46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38bdf8"/>
                </a:solidFill>
                <a:uFillTx/>
                <a:latin typeface="Arial"/>
              </a:rPr>
              <a:t>Servlet Life Cycle Made Easy</a:t>
            </a:r>
            <a:endParaRPr b="0" lang="en-IN" sz="4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01"/>
              </a:spcBef>
            </a:pPr>
            <a:r>
              <a:rPr b="0" lang="en-US" sz="2000" strike="noStrike" u="none">
                <a:solidFill>
                  <a:srgbClr val="f8fafc"/>
                </a:solidFill>
                <a:uFillTx/>
                <a:latin typeface="Arial"/>
              </a:rPr>
              <a:t>Understanding Servlets using simple real-world analogies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01"/>
              </a:spcBef>
            </a:pPr>
            <a:r>
              <a:rPr b="0" lang="en-US" sz="2000" strike="noStrike" u="none">
                <a:solidFill>
                  <a:srgbClr val="f8fafc"/>
                </a:solidFill>
                <a:uFillTx/>
                <a:latin typeface="Arial"/>
              </a:rPr>
              <a:t>                                                                                  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01"/>
              </a:spcBef>
            </a:pP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01"/>
              </a:spcBef>
            </a:pP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01"/>
              </a:spcBef>
            </a:pP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01"/>
              </a:spcBef>
            </a:pPr>
            <a:r>
              <a:rPr b="0" lang="en-US" sz="2000" strike="noStrike" u="none">
                <a:solidFill>
                  <a:srgbClr val="f8fafc"/>
                </a:solidFill>
                <a:uFillTx/>
                <a:latin typeface="Arial"/>
              </a:rPr>
              <a:t>                                                                                  </a:t>
            </a:r>
            <a:r>
              <a:rPr b="0" lang="en-US" sz="2000" strike="noStrike" u="none">
                <a:solidFill>
                  <a:srgbClr val="f8fafc"/>
                </a:solidFill>
                <a:uFillTx/>
                <a:latin typeface="Arial"/>
              </a:rPr>
              <a:t>N.Loka Bandhava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  <a:spcBef>
                <a:spcPts val="2001"/>
              </a:spcBef>
            </a:pPr>
            <a:r>
              <a:rPr b="0" lang="en-US" sz="2000" strike="noStrike" u="none">
                <a:solidFill>
                  <a:srgbClr val="f8fafc"/>
                </a:solidFill>
                <a:uFillTx/>
                <a:latin typeface="Arial"/>
              </a:rPr>
              <a:t>Reg.no: 192324167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57200" y="4572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38bdf8"/>
                </a:solidFill>
                <a:uFillTx/>
                <a:latin typeface="Arial"/>
              </a:rPr>
              <a:t>The Restaurant Analogy</a:t>
            </a:r>
            <a:endParaRPr b="0" lang="en-IN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1371600"/>
            <a:ext cx="8229240" cy="32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The Web Container = The Restaurant Manager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Tomcat or Jetty is the manager. It receives customers, assigns tables, and tells the chef what to do.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The Servlet = The Chef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A servlet is the chef who actually prepares the food (data/webpages) based on what the customers ordered.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The Requests = Customer Orders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Every click on a website is like a customer placing an order at a table.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The Threads = Waiters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Instead of hiring a new chef for every customer, one chef (singleton) cooks, and multiple waiters (threads) deliver orders back and forth.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57200" y="4572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38bdf8"/>
                </a:solidFill>
                <a:uFillTx/>
                <a:latin typeface="Arial"/>
              </a:rPr>
              <a:t>Phase 1: init() - Setting Up the Kitchen</a:t>
            </a:r>
            <a:endParaRPr b="0" lang="en-IN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7200" y="1371600"/>
            <a:ext cx="8229240" cy="29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What it does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Before cooking any food, the chef must sharpen knives, turn on stoves, and gather ingredients. This is what init() does.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Runs Only Once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The chef prepares the kitchen only once when starting the shift, not for every individual customer order.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Eager vs. Lazy Setup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• </a:t>
            </a: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Lazy (Default): The chef waits until the first customer arrives to turn on the stove (first customer gets slow service).</a:t>
            </a:r>
            <a:br>
              <a:rPr sz="1400"/>
            </a:b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• Eager: The chef prepares everything when the restaurant opens (smooth service for everyone).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457200" y="4572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38bdf8"/>
                </a:solidFill>
                <a:uFillTx/>
                <a:latin typeface="Arial"/>
              </a:rPr>
              <a:t>Phase 2: service() - Cooking the Food</a:t>
            </a:r>
            <a:endParaRPr b="0" lang="en-IN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457200" y="1371600"/>
            <a:ext cx="8229240" cy="29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The Main Job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Whenever a customer places an order, the manager tells the chef to start cooking. This is service() in action.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Handling the Menu (doGet / doPost)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The chef reads the order type:</a:t>
            </a:r>
            <a:br>
              <a:rPr sz="1400"/>
            </a:b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• If it's a request to READ the menu (GET) ➔ call doGet()</a:t>
            </a:r>
            <a:br>
              <a:rPr sz="1400"/>
            </a:b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• If it's a request to SUBMIT a new order (POST) ➔ call doPost()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Multi-Tasking (Threads)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One chef cooks multiple dishes at the same time on a multi-burner stove. The chef must be careful not to mix up recipes (stay stateless!).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457200" y="4572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38bdf8"/>
                </a:solidFill>
                <a:uFillTx/>
                <a:latin typeface="Arial"/>
              </a:rPr>
              <a:t>Simple Step-by-Step Flow</a:t>
            </a:r>
            <a:endParaRPr b="0" lang="en-IN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457200" y="1371600"/>
            <a:ext cx="8229240" cy="31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8fafc"/>
                </a:solidFill>
                <a:uFillTx/>
                <a:latin typeface="Arial"/>
              </a:rPr>
              <a:t>1. Customer Enters</a:t>
            </a: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300" strike="noStrike" u="none">
                <a:solidFill>
                  <a:srgbClr val="94a3b8"/>
                </a:solidFill>
                <a:uFillTx/>
                <a:latin typeface="Arial"/>
              </a:rPr>
              <a:t>A user clicks a link or submits a form online.</a:t>
            </a:r>
            <a:endParaRPr b="0" lang="en-IN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1800" strike="noStrike" u="none">
                <a:solidFill>
                  <a:srgbClr val="f8fafc"/>
                </a:solidFill>
                <a:uFillTx/>
                <a:latin typeface="Arial"/>
              </a:rPr>
              <a:t>2. Chef Setup (First time only)</a:t>
            </a: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300" strike="noStrike" u="none">
                <a:solidFill>
                  <a:srgbClr val="94a3b8"/>
                </a:solidFill>
                <a:uFillTx/>
                <a:latin typeface="Arial"/>
              </a:rPr>
              <a:t>The container creates the Servlet object and runs init() to prepare resources.</a:t>
            </a:r>
            <a:endParaRPr b="0" lang="en-IN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1800" strike="noStrike" u="none">
                <a:solidFill>
                  <a:srgbClr val="f8fafc"/>
                </a:solidFill>
                <a:uFillTx/>
                <a:latin typeface="Arial"/>
              </a:rPr>
              <a:t>3. Order Dispatch</a:t>
            </a: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300" strike="noStrike" u="none">
                <a:solidFill>
                  <a:srgbClr val="94a3b8"/>
                </a:solidFill>
                <a:uFillTx/>
                <a:latin typeface="Arial"/>
              </a:rPr>
              <a:t>The container assigns a thread (waiter) to route the request to service().</a:t>
            </a:r>
            <a:endParaRPr b="0" lang="en-IN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1800" strike="noStrike" u="none">
                <a:solidFill>
                  <a:srgbClr val="f8fafc"/>
                </a:solidFill>
                <a:uFillTx/>
                <a:latin typeface="Arial"/>
              </a:rPr>
              <a:t>4. Food Served</a:t>
            </a: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300" strike="noStrike" u="none">
                <a:solidFill>
                  <a:srgbClr val="94a3b8"/>
                </a:solidFill>
                <a:uFillTx/>
                <a:latin typeface="Arial"/>
              </a:rPr>
              <a:t>The servlet processes the request and sends the response (HTML page or JSON data) back to the user.</a:t>
            </a:r>
            <a:endParaRPr b="0" lang="en-IN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1800" strike="noStrike" u="none">
                <a:solidFill>
                  <a:srgbClr val="f8fafc"/>
                </a:solidFill>
                <a:uFillTx/>
                <a:latin typeface="Arial"/>
              </a:rPr>
              <a:t>5. Closing Time</a:t>
            </a: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300" strike="noStrike" u="none">
                <a:solidFill>
                  <a:srgbClr val="94a3b8"/>
                </a:solidFill>
                <a:uFillTx/>
                <a:latin typeface="Arial"/>
              </a:rPr>
              <a:t>When the server turns off, destroy() runs to shut down resources and close the kitchen.</a:t>
            </a:r>
            <a:endParaRPr b="0" lang="en-IN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457200" y="4572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38bdf8"/>
                </a:solidFill>
                <a:uFillTx/>
                <a:latin typeface="Arial"/>
              </a:rPr>
              <a:t>Phase 3: destroy() - Closing the Kitchen</a:t>
            </a:r>
            <a:endParaRPr b="0" lang="en-IN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7200" y="1371600"/>
            <a:ext cx="822924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What it does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At the end of the day, the chef must turn off the stoves, close the water valves, and lock up. This is destroy().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Why it matters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If you don't turn off the gas, the building could catch fire. In code, if you don't close database connections, your server will eventually run out of memory and crash.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2000" strike="noStrike" u="none">
                <a:solidFill>
                  <a:srgbClr val="f8fafc"/>
                </a:solidFill>
                <a:uFillTx/>
                <a:latin typeface="Arial"/>
              </a:rPr>
              <a:t>Runs Only Once</a:t>
            </a:r>
            <a:endParaRPr b="0" lang="en-IN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400" strike="noStrike" u="none">
                <a:solidFill>
                  <a:srgbClr val="94a3b8"/>
                </a:solidFill>
                <a:uFillTx/>
                <a:latin typeface="Arial"/>
              </a:rPr>
              <a:t>Just like init(), destroy() runs exactly once when the server stops or when the application is undeployed.</a:t>
            </a:r>
            <a:endParaRPr b="0" lang="en-IN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457200" y="4572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38bdf8"/>
                </a:solidFill>
                <a:uFillTx/>
                <a:latin typeface="Arial"/>
              </a:rPr>
              <a:t>Critical Performance Rules</a:t>
            </a:r>
            <a:endParaRPr b="0" lang="en-IN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457200" y="1371600"/>
            <a:ext cx="8229240" cy="22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8fafc"/>
                </a:solidFill>
                <a:uFillTx/>
                <a:latin typeface="Arial"/>
              </a:rPr>
              <a:t>1. Keep Servlets Stateless</a:t>
            </a: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300" strike="noStrike" u="none">
                <a:solidFill>
                  <a:srgbClr val="94a3b8"/>
                </a:solidFill>
                <a:uFillTx/>
                <a:latin typeface="Arial"/>
              </a:rPr>
              <a:t>Because there is only one Chef (servlet) handling many Waiters (threads), do not write table-specific information on the kitchen walls (avoid instance variables). Use local variables.</a:t>
            </a:r>
            <a:endParaRPr b="0" lang="en-IN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1800" strike="noStrike" u="none">
                <a:solidFill>
                  <a:srgbClr val="f8fafc"/>
                </a:solidFill>
                <a:uFillTx/>
                <a:latin typeface="Arial"/>
              </a:rPr>
              <a:t>2. Warm Up the Stove</a:t>
            </a: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300" strike="noStrike" u="none">
                <a:solidFill>
                  <a:srgbClr val="94a3b8"/>
                </a:solidFill>
                <a:uFillTx/>
                <a:latin typeface="Arial"/>
              </a:rPr>
              <a:t>Always use 'load-on-startup' so the setup penalty is paid during deploy time, not when the first customer arrives.</a:t>
            </a:r>
            <a:endParaRPr b="0" lang="en-IN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1800" strike="noStrike" u="none">
                <a:solidFill>
                  <a:srgbClr val="f8fafc"/>
                </a:solidFill>
                <a:uFillTx/>
                <a:latin typeface="Arial"/>
              </a:rPr>
              <a:t>3. Use Shared Resource Pools</a:t>
            </a:r>
            <a:endParaRPr b="0" lang="en-IN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300" strike="noStrike" u="none">
                <a:solidFill>
                  <a:srgbClr val="94a3b8"/>
                </a:solidFill>
                <a:uFillTx/>
                <a:latin typeface="Arial"/>
              </a:rPr>
              <a:t>Do not open database connection pools inside service(). Set them up once in init() and reuse them.</a:t>
            </a:r>
            <a:endParaRPr b="0" lang="en-IN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Application>PPTX/25.2.0.0.alpha0$Windows_X86_64 LibreOffice_project/3ee53d75d253fb7fe2eb8db44afca95fda7f156d</Application>
  <AppVersion>15.0000</AppVersion>
  <Words>969</Words>
  <Paragraphs>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2026-08-18T13:24:29Z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(4:3)</vt:lpwstr>
  </property>
  <property fmtid="{D5CDD505-2E9C-101B-9397-08002B2CF9AE}" pid="4" name="Slides">
    <vt:i4>7</vt:i4>
  </property>
</Properties>
</file>