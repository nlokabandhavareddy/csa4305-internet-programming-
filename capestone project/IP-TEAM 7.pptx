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fld id="{9263B80C-2703-4355-90F8-B79222A4272C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Num" idx="18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B0468F-2EFB-4BE7-9159-65510F2EC6BE}" type="slidenum">
              <a:rPr b="0" lang="en-IN" sz="1800" spc="-1" strike="noStrike">
                <a:solidFill>
                  <a:srgbClr val="000000"/>
                </a:solidFill>
                <a:latin typeface="Calibri"/>
                <a:ea typeface="Calibri"/>
              </a:rPr>
              <a:t>5</a:t>
            </a:fld>
            <a:endParaRPr b="0" lang="en-IN" sz="1800" spc="-1" strike="noStrike">
              <a:latin typeface="Times New Roman"/>
            </a:endParaRPr>
          </a:p>
        </p:txBody>
      </p:sp>
      <p:sp>
        <p:nvSpPr>
          <p:cNvPr id="140" name="Google Shape;91;p1:notes"/>
          <p:cNvSpPr/>
          <p:nvPr/>
        </p:nvSpPr>
        <p:spPr>
          <a:xfrm>
            <a:off x="3884760" y="8685360"/>
            <a:ext cx="29620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79C181B2-A9FB-4579-865E-ECB3CE54BD79}" type="slidenum">
              <a:rPr b="0" lang="en-IN" sz="1200" spc="-1" strike="noStrike">
                <a:solidFill>
                  <a:srgbClr val="000000"/>
                </a:solidFill>
                <a:latin typeface="Calibri"/>
                <a:ea typeface="Calibri"/>
              </a:rPr>
              <a:t>5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141" name="Google Shape;92;p1:notes"/>
          <p:cNvSpPr/>
          <p:nvPr/>
        </p:nvSpPr>
        <p:spPr>
          <a:xfrm>
            <a:off x="3884760" y="8685360"/>
            <a:ext cx="296352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BA6A7CB0-624A-4D1E-B0F2-7879938950BF}" type="slidenum">
              <a:rPr b="0" lang="en-IN" sz="1200" spc="-1" strike="noStrike">
                <a:solidFill>
                  <a:srgbClr val="000000"/>
                </a:solidFill>
                <a:latin typeface="Calibri"/>
                <a:ea typeface="Calibri"/>
              </a:rPr>
              <a:t>5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62280" cy="3422160"/>
          </a:xfrm>
          <a:prstGeom prst="rect">
            <a:avLst/>
          </a:prstGeom>
          <a:ln w="0">
            <a:noFill/>
          </a:ln>
        </p:spPr>
      </p:sp>
      <p:sp>
        <p:nvSpPr>
          <p:cNvPr id="143" name="Google Shape;94;p1:notes"/>
          <p:cNvSpPr/>
          <p:nvPr/>
        </p:nvSpPr>
        <p:spPr>
          <a:xfrm>
            <a:off x="685800" y="4343400"/>
            <a:ext cx="5479560" cy="41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IN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IN" sz="20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9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4C56AC-A88A-4FB0-B8AE-E6EAC35B15B6}" type="slidenum">
              <a:rPr b="0" lang="en-IN" sz="1400" spc="-1" strike="noStrike">
                <a:latin typeface="Times New Roman"/>
              </a:rPr>
              <a:t>2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IN" sz="20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20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FAABCC-7695-4EB7-AF7E-0A7DB220BFEB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IN" sz="20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21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A18380-8FE4-4943-8BDB-DFAF3400C242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584E1F-BF06-4BD8-832D-ABBE8F717F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40DCA5-F10E-4EC6-95A9-894230D5B6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DFBDE4-E1CF-4A69-B522-2F3BBA6F48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E713F9-922B-4091-83D7-9327F1F779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A3116C-D08C-40D6-8422-D4ED729767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8865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457E75-7115-43C7-96E2-9A14433A22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7D098E-8776-4524-BB1C-E19CBAAB3A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55EDC3-E841-4AC7-A485-58DBA11F86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4EEC67-4BFB-464D-A053-6FFF1FCDD4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05C9BF-DF63-48EF-B515-D56A42CD8F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7D0687-D95B-45FC-BFEC-074FBFB33A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9508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6124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2856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9508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6124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F1C541-D413-4D14-8BD8-419AFEB1A1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993F2A-C614-46F7-B752-0E5C40D224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17C050-18F2-469C-AF7B-CA129B2AFE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31D2AF-1058-4A6C-8C17-BD7DA45859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125F14-9974-4FB1-92C0-743DBB7E5F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2AD8DC-8C21-4448-A16B-E88B343EC4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8865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8F2F1B-77B3-485B-922D-0F0BE55989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F0A6CE-6A47-4656-A0A3-9BAEFDDF43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24BD32-D5AF-49F7-B07D-DDF2C05E3E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1AC1E9-90CC-40B8-8692-DCE864E552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3C99DE-BA4E-4E11-A0E1-98C8C6C5BF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646500-D1EE-4F41-B77F-18FD17BB2F0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9508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96124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856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9508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596124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2F0702-1E21-406A-ACA2-6BC16B9070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6DCDA9-1578-4C4E-A353-2FF3C3820204}" type="slidenum">
              <a:rPr b="0" lang="en-IN" sz="9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0" lang="en-IN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B03F4C-88DC-4756-943C-0DB8D4B9048D}" type="slidenum">
              <a:rPr b="0" lang="en-IN" sz="9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97;p1"/>
          <p:cNvSpPr/>
          <p:nvPr/>
        </p:nvSpPr>
        <p:spPr>
          <a:xfrm>
            <a:off x="2133720" y="2057400"/>
            <a:ext cx="5943240" cy="8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98;p1"/>
          <p:cNvSpPr/>
          <p:nvPr/>
        </p:nvSpPr>
        <p:spPr>
          <a:xfrm>
            <a:off x="140400" y="2208960"/>
            <a:ext cx="8686440" cy="191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algn="ctr">
              <a:lnSpc>
                <a:spcPct val="100000"/>
              </a:lnSpc>
              <a:tabLst>
                <a:tab algn="l" pos="0"/>
              </a:tabLst>
            </a:pPr>
            <a:r>
              <a:rPr b="1" lang="en-IN" sz="3000" spc="-1" strike="noStrike">
                <a:solidFill>
                  <a:srgbClr val="c00000"/>
                </a:solidFill>
                <a:latin typeface="Times New Roman"/>
                <a:ea typeface="Times New Roman"/>
              </a:rPr>
              <a:t>Title</a:t>
            </a:r>
            <a:endParaRPr b="0" lang="en-IN" sz="3000" spc="-1" strike="noStrike">
              <a:latin typeface="Arial"/>
            </a:endParaRPr>
          </a:p>
          <a:p>
            <a:pPr marL="365040">
              <a:lnSpc>
                <a:spcPct val="100000"/>
              </a:lnSpc>
              <a:spcBef>
                <a:spcPts val="550"/>
              </a:spcBef>
              <a:tabLst>
                <a:tab algn="l" pos="0"/>
              </a:tabLst>
            </a:pPr>
            <a:br>
              <a:rPr sz="2400"/>
            </a:br>
            <a:br>
              <a:rPr sz="2400"/>
            </a:br>
            <a:br>
              <a:rPr sz="2400"/>
            </a:br>
            <a:br>
              <a:rPr sz="2400"/>
            </a:br>
            <a:r>
              <a:rPr b="1" lang="en-IN" sz="20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	</a:t>
            </a:r>
            <a:r>
              <a:rPr b="1" lang="en-IN" sz="20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	</a:t>
            </a:r>
            <a:r>
              <a:rPr b="1" lang="en-IN" sz="20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	</a:t>
            </a:r>
            <a:r>
              <a:rPr b="1" lang="en-IN" sz="20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	</a:t>
            </a:r>
            <a:r>
              <a:rPr b="1" lang="en-IN" sz="20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	</a:t>
            </a:r>
            <a:r>
              <a:rPr b="1" lang="en-IN" sz="20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	</a:t>
            </a:r>
            <a:r>
              <a:rPr b="1" lang="en-IN" sz="20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	</a:t>
            </a:r>
            <a:r>
              <a:rPr b="1" lang="en-IN" sz="20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	</a:t>
            </a:r>
            <a:r>
              <a:rPr b="1" lang="en-IN" sz="20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	</a:t>
            </a:r>
            <a:r>
              <a:rPr b="1" lang="en-IN" sz="20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	</a:t>
            </a:r>
            <a:r>
              <a:rPr b="1" lang="en-IN" sz="20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	</a:t>
            </a:r>
            <a:endParaRPr b="0" lang="en-IN" sz="2000" spc="-1" strike="noStrike">
              <a:latin typeface="Arial"/>
            </a:endParaRPr>
          </a:p>
          <a:p>
            <a:pPr marL="365040" algn="ctr">
              <a:lnSpc>
                <a:spcPct val="100000"/>
              </a:lnSpc>
              <a:spcBef>
                <a:spcPts val="550"/>
              </a:spcBef>
              <a:tabLst>
                <a:tab algn="l" pos="0"/>
              </a:tabLst>
            </a:pPr>
            <a:r>
              <a:rPr b="1" lang="en-IN" sz="3600" spc="-1" strike="noStrike">
                <a:solidFill>
                  <a:srgbClr val="c00000"/>
                </a:solidFill>
                <a:latin typeface="Times New Roman"/>
                <a:ea typeface="Times New Roman"/>
              </a:rPr>
              <a:t>                          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sldNum" idx="10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IN" sz="14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3A60AE-E43A-4048-9EA4-9FAB6F95D0E7}" type="slidenum">
              <a:rPr b="1" lang="en-IN" sz="14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pic>
        <p:nvPicPr>
          <p:cNvPr id="91" name="Google Shape;100;p1" descr="SSE-Computer Science and Engineering"/>
          <p:cNvPicPr/>
          <p:nvPr/>
        </p:nvPicPr>
        <p:blipFill>
          <a:blip r:embed="rId1"/>
          <a:stretch/>
        </p:blipFill>
        <p:spPr>
          <a:xfrm>
            <a:off x="838080" y="109440"/>
            <a:ext cx="7238520" cy="110916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101;p1"/>
          <p:cNvSpPr/>
          <p:nvPr/>
        </p:nvSpPr>
        <p:spPr>
          <a:xfrm>
            <a:off x="123840" y="3078720"/>
            <a:ext cx="88959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Job Portal Web Application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93" name="Google Shape;102;p1"/>
          <p:cNvSpPr/>
          <p:nvPr/>
        </p:nvSpPr>
        <p:spPr>
          <a:xfrm>
            <a:off x="4954320" y="4895640"/>
            <a:ext cx="3737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S.SHASHI VARDHAN(192311155)</a:t>
            </a:r>
            <a:endParaRPr b="0" lang="en-IN" sz="18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P.PRAVEEN(192372105)</a:t>
            </a:r>
            <a:endParaRPr b="0" lang="en-IN" sz="18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G.NAVEEN(192324110)</a:t>
            </a:r>
            <a:endParaRPr b="0" lang="en-IN" sz="18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N.LOKABANDHAVA (192324167)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" name="Google Shape;103;p1"/>
          <p:cNvSpPr/>
          <p:nvPr/>
        </p:nvSpPr>
        <p:spPr>
          <a:xfrm>
            <a:off x="859320" y="4895640"/>
            <a:ext cx="2966040" cy="15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6480" indent="-6480" algn="ctr">
              <a:lnSpc>
                <a:spcPct val="107000"/>
              </a:lnSpc>
              <a:tabLst>
                <a:tab algn="l" pos="0"/>
              </a:tabLst>
            </a:pPr>
            <a:r>
              <a:rPr b="1" i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Under the Supervision of:</a:t>
            </a:r>
            <a:endParaRPr b="0" lang="en-IN" sz="1800" spc="-1" strike="noStrike">
              <a:latin typeface="Arial"/>
            </a:endParaRPr>
          </a:p>
          <a:p>
            <a:pPr marL="6480" indent="-6480" algn="ctr">
              <a:lnSpc>
                <a:spcPct val="107000"/>
              </a:lnSpc>
              <a:spcBef>
                <a:spcPts val="731"/>
              </a:spcBef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 marL="6480" indent="-6480" algn="ctr">
              <a:lnSpc>
                <a:spcPct val="107000"/>
              </a:lnSpc>
              <a:spcBef>
                <a:spcPts val="731"/>
              </a:spcBef>
              <a:tabLst>
                <a:tab algn="l" pos="0"/>
              </a:tabLst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DR.D.SUDHGAR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31"/>
              </a:spcBef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95" name="Google Shape;104;p1"/>
          <p:cNvSpPr/>
          <p:nvPr/>
        </p:nvSpPr>
        <p:spPr>
          <a:xfrm>
            <a:off x="1510200" y="1636560"/>
            <a:ext cx="67698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IN" sz="1800" spc="-1" strike="noStrike">
                <a:solidFill>
                  <a:srgbClr val="0c0c0c"/>
                </a:solidFill>
                <a:latin typeface="Times New Roman"/>
                <a:ea typeface="Times New Roman"/>
              </a:rPr>
              <a:t>Internet Programming For Web App Development- CSA4305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22240" y="1467360"/>
            <a:ext cx="7499160" cy="791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pc="-1" strike="noStrike">
                <a:solidFill>
                  <a:srgbClr val="c00000"/>
                </a:solidFill>
                <a:latin typeface="Times New Roman"/>
                <a:ea typeface="Times New Roman"/>
              </a:rPr>
              <a:t>Introduction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11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CA8E86-D3C0-4D69-A32C-6E29C7678B4B}" type="slidenum">
              <a:rPr b="0" lang="en-IN" sz="900" spc="-1" strike="noStrike">
                <a:solidFill>
                  <a:srgbClr val="888888"/>
                </a:solidFill>
                <a:latin typeface="Calibri"/>
                <a:ea typeface="Calibri"/>
              </a:rPr>
              <a:t>2</a:t>
            </a:fld>
            <a:endParaRPr b="0" lang="en-IN" sz="900" spc="-1" strike="noStrike">
              <a:latin typeface="Times New Roman"/>
            </a:endParaRPr>
          </a:p>
        </p:txBody>
      </p:sp>
      <p:pic>
        <p:nvPicPr>
          <p:cNvPr id="98" name="Google Shape;112;p2" descr="SSE-Computer Science and Engineering"/>
          <p:cNvPicPr/>
          <p:nvPr/>
        </p:nvPicPr>
        <p:blipFill>
          <a:blip r:embed="rId1"/>
          <a:stretch/>
        </p:blipFill>
        <p:spPr>
          <a:xfrm>
            <a:off x="838080" y="109440"/>
            <a:ext cx="7238520" cy="1109160"/>
          </a:xfrm>
          <a:prstGeom prst="rect">
            <a:avLst/>
          </a:prstGeom>
          <a:ln w="0">
            <a:noFill/>
          </a:ln>
        </p:spPr>
      </p:pic>
      <p:sp>
        <p:nvSpPr>
          <p:cNvPr id="99" name="Google Shape;113;p2"/>
          <p:cNvSpPr/>
          <p:nvPr/>
        </p:nvSpPr>
        <p:spPr>
          <a:xfrm>
            <a:off x="228600" y="2512800"/>
            <a:ext cx="8457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Job Portal Web Application is an online platform that connects job seekers and employers in a centralized system.</a:t>
            </a:r>
            <a:endParaRPr b="0" lang="en-IN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It enables users to register, create profiles, search for jobs, and apply for suitable positions.</a:t>
            </a:r>
            <a:endParaRPr b="0" lang="en-IN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Employers can post job vacancies, manage applications, and track recruitment activities efficiently. </a:t>
            </a:r>
            <a:endParaRPr b="0" lang="en-IN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The system provides secure authentication, application tracking, and administrative monitoring to streamline the hiring process. 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01800" y="1371600"/>
            <a:ext cx="7499160" cy="791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pc="-1" strike="noStrike">
                <a:solidFill>
                  <a:srgbClr val="c00000"/>
                </a:solidFill>
                <a:latin typeface="Times New Roman"/>
                <a:ea typeface="Times New Roman"/>
              </a:rPr>
              <a:t>Problem Statement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266760" y="2286000"/>
            <a:ext cx="8496000" cy="4070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Traditional recruitment methods are often manual, time-consuming, and inefficient for both job seekers and employers. 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>
              <a:lnSpc>
                <a:spcPct val="150000"/>
              </a:lnSpc>
              <a:spcBef>
                <a:spcPts val="751"/>
              </a:spcBef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Job seekers face difficulties in finding suitable job opportunities and tracking their application status. 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>
              <a:lnSpc>
                <a:spcPct val="150000"/>
              </a:lnSpc>
              <a:spcBef>
                <a:spcPts val="751"/>
              </a:spcBef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Employers struggle to manage multiple job postings and handle a large number of applications effectively. 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>
              <a:lnSpc>
                <a:spcPct val="150000"/>
              </a:lnSpc>
              <a:spcBef>
                <a:spcPts val="751"/>
              </a:spcBef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Therefore, a centralized web-based Job Portal is required to streamline recruitment, improve communication, and simplify the hiring process. 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12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1507C8-0824-4D6A-8FA9-575ED4A430E4}" type="slidenum">
              <a:rPr b="0" lang="en-IN" sz="900" spc="-1" strike="noStrike">
                <a:solidFill>
                  <a:srgbClr val="888888"/>
                </a:solidFill>
                <a:latin typeface="Calibri"/>
                <a:ea typeface="Calibri"/>
              </a:rPr>
              <a:t>3</a:t>
            </a:fld>
            <a:endParaRPr b="0" lang="en-IN" sz="900" spc="-1" strike="noStrike">
              <a:latin typeface="Times New Roman"/>
            </a:endParaRPr>
          </a:p>
        </p:txBody>
      </p:sp>
      <p:pic>
        <p:nvPicPr>
          <p:cNvPr id="103" name="Google Shape;122;p3" descr="SSE-Computer Science and Engineering"/>
          <p:cNvPicPr/>
          <p:nvPr/>
        </p:nvPicPr>
        <p:blipFill>
          <a:blip r:embed="rId1"/>
          <a:stretch/>
        </p:blipFill>
        <p:spPr>
          <a:xfrm>
            <a:off x="838080" y="109440"/>
            <a:ext cx="7238520" cy="110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Num" idx="1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A2B086-C9D5-4801-BCF3-70B7919598CB}" type="slidenum">
              <a:rPr b="0" lang="en-IN" sz="900" spc="-1" strike="noStrike">
                <a:solidFill>
                  <a:srgbClr val="888888"/>
                </a:solidFill>
                <a:latin typeface="Calibri"/>
                <a:ea typeface="Calibri"/>
              </a:rPr>
              <a:t>3</a:t>
            </a:fld>
            <a:endParaRPr b="0" lang="en-IN" sz="900" spc="-1" strike="noStrike">
              <a:latin typeface="Times New Roman"/>
            </a:endParaRPr>
          </a:p>
        </p:txBody>
      </p:sp>
      <p:pic>
        <p:nvPicPr>
          <p:cNvPr id="105" name="Google Shape;129;p4" descr="SSE-Computer Science and Engineering"/>
          <p:cNvPicPr/>
          <p:nvPr/>
        </p:nvPicPr>
        <p:blipFill>
          <a:blip r:embed="rId1"/>
          <a:stretch/>
        </p:blipFill>
        <p:spPr>
          <a:xfrm>
            <a:off x="838080" y="109440"/>
            <a:ext cx="7238520" cy="110916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2"/>
          <p:cNvSpPr>
            <a:spLocks noGrp="1"/>
          </p:cNvSpPr>
          <p:nvPr>
            <p:ph type="title"/>
          </p:nvPr>
        </p:nvSpPr>
        <p:spPr>
          <a:xfrm>
            <a:off x="1914480" y="1346760"/>
            <a:ext cx="5314680" cy="85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pc="-1" strike="noStrike">
                <a:solidFill>
                  <a:srgbClr val="c00000"/>
                </a:solidFill>
                <a:latin typeface="Times New Roman"/>
                <a:ea typeface="Times New Roman"/>
              </a:rPr>
              <a:t>LITERATURE REVIEW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7" name="Google Shape;131;p4"/>
          <p:cNvGraphicFramePr/>
          <p:nvPr/>
        </p:nvGraphicFramePr>
        <p:xfrm>
          <a:off x="228600" y="2165040"/>
          <a:ext cx="8686440" cy="3996720"/>
        </p:xfrm>
        <a:graphic>
          <a:graphicData uri="http://schemas.openxmlformats.org/drawingml/2006/table">
            <a:tbl>
              <a:tblPr/>
              <a:tblGrid>
                <a:gridCol w="609480"/>
                <a:gridCol w="1143000"/>
                <a:gridCol w="1600200"/>
                <a:gridCol w="2286000"/>
                <a:gridCol w="3047760"/>
              </a:tblGrid>
              <a:tr h="543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S. No.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Year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Author(s)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Title of the Paper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Key Findings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92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2023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Rajesh Kumar &amp; Anjali Sharma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Ahmed Hassan &amp; Sarah Williams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Developed an online recruitment platform that simplified job posting, candidate registration, and application tracking for employers and job seekers.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36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2024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John Smith &amp; Michael Brown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Online Recruitment System Using Web Technologies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Proposed a web-based recruitment system that improved hiring efficiency, reduced manual effort, and enhanced communication between employers and candidates.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92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2024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Priya Verma et al.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Design and Development of a Job Recruitment Portal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Implemented a centralized job portal with secure authentication, resume management, and application tracking features.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92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2025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Ahmed Hassan &amp; Sarah Williams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Modern E-Recruitment Platforms: A Systematic Review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Reviewed digital recruitment platforms and concluded that online job portals improve accessibility, hiring speed, and candidate engagement.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/>
          </p:nvPr>
        </p:nvSpPr>
        <p:spPr>
          <a:xfrm>
            <a:off x="3276720" y="1832760"/>
            <a:ext cx="3028680" cy="837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4000" spc="-1" strike="noStrike">
                <a:solidFill>
                  <a:srgbClr val="c00000"/>
                </a:solidFill>
                <a:latin typeface="Times New Roman"/>
                <a:ea typeface="Times New Roman"/>
              </a:rPr>
              <a:t>Objectives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14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815ABE-C948-4745-9179-1F6C9B13732E}" type="slidenum">
              <a:rPr b="0" lang="en-IN" sz="900" spc="-1" strike="noStrike">
                <a:solidFill>
                  <a:srgbClr val="888888"/>
                </a:solidFill>
                <a:latin typeface="Calibri"/>
                <a:ea typeface="Calibri"/>
              </a:rPr>
              <a:t>5</a:t>
            </a:fld>
            <a:endParaRPr b="0" lang="en-IN" sz="900" spc="-1" strike="noStrike">
              <a:latin typeface="Times New Roman"/>
            </a:endParaRPr>
          </a:p>
        </p:txBody>
      </p:sp>
      <p:pic>
        <p:nvPicPr>
          <p:cNvPr id="110" name="Google Shape;138;p5" descr="SSE-Computer Science and Engineering"/>
          <p:cNvPicPr/>
          <p:nvPr/>
        </p:nvPicPr>
        <p:blipFill>
          <a:blip r:embed="rId1"/>
          <a:stretch/>
        </p:blipFill>
        <p:spPr>
          <a:xfrm>
            <a:off x="914400" y="228600"/>
            <a:ext cx="7238520" cy="1109160"/>
          </a:xfrm>
          <a:prstGeom prst="rect">
            <a:avLst/>
          </a:prstGeom>
          <a:ln w="0">
            <a:noFill/>
          </a:ln>
        </p:spPr>
      </p:pic>
      <p:sp>
        <p:nvSpPr>
          <p:cNvPr id="111" name="Google Shape;139;p5"/>
          <p:cNvSpPr/>
          <p:nvPr/>
        </p:nvSpPr>
        <p:spPr>
          <a:xfrm>
            <a:off x="343080" y="2958120"/>
            <a:ext cx="8457840" cy="29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To develop a secure and user-friendly web-based Job Portal for connecting job seekers and employers. </a:t>
            </a:r>
            <a:endParaRPr b="0" lang="en-IN" sz="21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To enable employers to post, manage, and track job vacancies efficiently. </a:t>
            </a:r>
            <a:endParaRPr b="0" lang="en-IN" sz="21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To allow job seekers to search, apply, and track job applications online. </a:t>
            </a:r>
            <a:endParaRPr b="0" lang="en-IN" sz="21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To automate the recruitment process and improve overall hiring efficiency. </a:t>
            </a:r>
            <a:endParaRPr b="0" lang="en-IN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Num" idx="15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899BC5-51B3-4894-B63C-03C8F7434613}" type="slidenum">
              <a:rPr b="0" lang="en-IN" sz="900" spc="-1" strike="noStrike">
                <a:solidFill>
                  <a:srgbClr val="888888"/>
                </a:solidFill>
                <a:latin typeface="Calibri"/>
                <a:ea typeface="Calibri"/>
              </a:rPr>
              <a:t>5</a:t>
            </a:fld>
            <a:endParaRPr b="0" lang="en-IN" sz="900" spc="-1" strike="noStrike">
              <a:latin typeface="Times New Roman"/>
            </a:endParaRPr>
          </a:p>
        </p:txBody>
      </p:sp>
      <p:pic>
        <p:nvPicPr>
          <p:cNvPr id="113" name="Google Shape;145;p6" descr="SSE-Computer Science and Engineering"/>
          <p:cNvPicPr/>
          <p:nvPr/>
        </p:nvPicPr>
        <p:blipFill>
          <a:blip r:embed="rId1"/>
          <a:stretch/>
        </p:blipFill>
        <p:spPr>
          <a:xfrm>
            <a:off x="914400" y="174240"/>
            <a:ext cx="7314840" cy="1121040"/>
          </a:xfrm>
          <a:prstGeom prst="rect">
            <a:avLst/>
          </a:prstGeom>
          <a:ln w="0">
            <a:noFill/>
          </a:ln>
        </p:spPr>
      </p:pic>
      <p:sp>
        <p:nvSpPr>
          <p:cNvPr id="114" name="Google Shape;146;p6"/>
          <p:cNvSpPr/>
          <p:nvPr/>
        </p:nvSpPr>
        <p:spPr>
          <a:xfrm>
            <a:off x="2209680" y="15195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IN" sz="2400" spc="-1" strike="noStrike">
                <a:solidFill>
                  <a:srgbClr val="c00000"/>
                </a:solidFill>
                <a:latin typeface="Times New Roman"/>
                <a:ea typeface="Times New Roman"/>
              </a:rPr>
              <a:t>Existing System vs Proposed System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5" name="Google Shape;147;p6"/>
          <p:cNvSpPr/>
          <p:nvPr/>
        </p:nvSpPr>
        <p:spPr>
          <a:xfrm>
            <a:off x="152280" y="2021760"/>
            <a:ext cx="883872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The existing recruitment process relies on manual methods such as newspapers, consultancies, and disconnected job portals, making job searching and hiring inefficient. </a:t>
            </a:r>
            <a:endParaRPr b="0" lang="en-IN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Candidates often face difficulties in finding suitable jobs and tracking their application status, while employers struggle to manage large volumes of applications. </a:t>
            </a:r>
            <a:endParaRPr b="0" lang="en-IN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The proposed Job Portal Web Application provides a centralized platform where employers can post jobs and candidates can search and apply online. </a:t>
            </a:r>
            <a:endParaRPr b="0" lang="en-IN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IN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The system automates recruitment activities, offers real-time application tracking, and improves overall efficiency, accessibility, and user experience. 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Num" idx="1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9D5EAE-C4B7-4B99-8E60-8988C55FFC70}" type="slidenum">
              <a:rPr b="0" lang="en-IN" sz="900" spc="-1" strike="noStrike">
                <a:solidFill>
                  <a:srgbClr val="888888"/>
                </a:solidFill>
                <a:latin typeface="Calibri"/>
                <a:ea typeface="Calibri"/>
              </a:rPr>
              <a:t>5</a:t>
            </a:fld>
            <a:endParaRPr b="0" lang="en-IN" sz="900" spc="-1" strike="noStrike">
              <a:latin typeface="Times New Roman"/>
            </a:endParaRPr>
          </a:p>
        </p:txBody>
      </p:sp>
      <p:pic>
        <p:nvPicPr>
          <p:cNvPr id="117" name="Google Shape;153;p7" descr="SSE-Computer Science and Engineering"/>
          <p:cNvPicPr/>
          <p:nvPr/>
        </p:nvPicPr>
        <p:blipFill>
          <a:blip r:embed="rId1"/>
          <a:stretch/>
        </p:blipFill>
        <p:spPr>
          <a:xfrm>
            <a:off x="838080" y="109440"/>
            <a:ext cx="7238520" cy="1109160"/>
          </a:xfrm>
          <a:prstGeom prst="rect">
            <a:avLst/>
          </a:prstGeom>
          <a:ln w="0">
            <a:noFill/>
          </a:ln>
        </p:spPr>
      </p:pic>
      <p:sp>
        <p:nvSpPr>
          <p:cNvPr id="118" name="Google Shape;154;p7"/>
          <p:cNvSpPr/>
          <p:nvPr/>
        </p:nvSpPr>
        <p:spPr>
          <a:xfrm>
            <a:off x="2990880" y="1481760"/>
            <a:ext cx="316188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c00000"/>
                </a:solidFill>
                <a:latin typeface="Times New Roman"/>
                <a:ea typeface="Times New Roman"/>
              </a:rPr>
              <a:t>MODULES</a:t>
            </a:r>
            <a:endParaRPr b="0" lang="en-IN" sz="4400" spc="-1" strike="noStrike">
              <a:latin typeface="Arial"/>
            </a:endParaRPr>
          </a:p>
        </p:txBody>
      </p:sp>
      <p:grpSp>
        <p:nvGrpSpPr>
          <p:cNvPr id="119" name="Google Shape;155;p7"/>
          <p:cNvGrpSpPr/>
          <p:nvPr/>
        </p:nvGrpSpPr>
        <p:grpSpPr>
          <a:xfrm>
            <a:off x="504720" y="2440080"/>
            <a:ext cx="8134200" cy="3688560"/>
            <a:chOff x="504720" y="2440080"/>
            <a:chExt cx="8134200" cy="3688560"/>
          </a:xfrm>
        </p:grpSpPr>
        <p:sp>
          <p:nvSpPr>
            <p:cNvPr id="120" name="Google Shape;156;p7"/>
            <p:cNvSpPr/>
            <p:nvPr/>
          </p:nvSpPr>
          <p:spPr>
            <a:xfrm>
              <a:off x="504720" y="2440080"/>
              <a:ext cx="8133840" cy="776160"/>
            </a:xfrm>
            <a:prstGeom prst="roundRect">
              <a:avLst>
                <a:gd name="adj" fmla="val 10000"/>
              </a:avLst>
            </a:prstGeom>
            <a:solidFill>
              <a:srgbClr val="cdd4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Google Shape;157;p7"/>
            <p:cNvSpPr/>
            <p:nvPr/>
          </p:nvSpPr>
          <p:spPr>
            <a:xfrm>
              <a:off x="739800" y="2614680"/>
              <a:ext cx="426960" cy="426960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Google Shape;158;p7"/>
            <p:cNvSpPr/>
            <p:nvPr/>
          </p:nvSpPr>
          <p:spPr>
            <a:xfrm>
              <a:off x="1401840" y="2440080"/>
              <a:ext cx="7237080" cy="77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" name="Google Shape;159;p7"/>
            <p:cNvSpPr/>
            <p:nvPr/>
          </p:nvSpPr>
          <p:spPr>
            <a:xfrm>
              <a:off x="1401840" y="2440080"/>
              <a:ext cx="7237080" cy="77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2080" rIns="82080" tIns="82080" bIns="82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IN" sz="22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Module 1: User Authentication &amp; Profile Management</a:t>
              </a:r>
              <a:endParaRPr b="0" lang="en-IN" sz="2200" spc="-1" strike="noStrike">
                <a:latin typeface="Arial"/>
              </a:endParaRPr>
            </a:p>
          </p:txBody>
        </p:sp>
        <p:sp>
          <p:nvSpPr>
            <p:cNvPr id="124" name="Google Shape;160;p7"/>
            <p:cNvSpPr/>
            <p:nvPr/>
          </p:nvSpPr>
          <p:spPr>
            <a:xfrm>
              <a:off x="504720" y="3410640"/>
              <a:ext cx="8133840" cy="776160"/>
            </a:xfrm>
            <a:prstGeom prst="roundRect">
              <a:avLst>
                <a:gd name="adj" fmla="val 10000"/>
              </a:avLst>
            </a:prstGeom>
            <a:solidFill>
              <a:srgbClr val="cdd4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Google Shape;161;p7"/>
            <p:cNvSpPr/>
            <p:nvPr/>
          </p:nvSpPr>
          <p:spPr>
            <a:xfrm>
              <a:off x="739800" y="3585600"/>
              <a:ext cx="426960" cy="426960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Google Shape;162;p7"/>
            <p:cNvSpPr/>
            <p:nvPr/>
          </p:nvSpPr>
          <p:spPr>
            <a:xfrm>
              <a:off x="1401840" y="3410640"/>
              <a:ext cx="7237080" cy="77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Google Shape;163;p7"/>
            <p:cNvSpPr/>
            <p:nvPr/>
          </p:nvSpPr>
          <p:spPr>
            <a:xfrm>
              <a:off x="1401840" y="3410640"/>
              <a:ext cx="7237080" cy="77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2080" rIns="82080" tIns="82080" bIns="82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IN" sz="22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Module 2: Employer Dashboard &amp; Job Management</a:t>
              </a:r>
              <a:endParaRPr b="0" lang="en-IN" sz="2200" spc="-1" strike="noStrike">
                <a:latin typeface="Arial"/>
              </a:endParaRPr>
            </a:p>
          </p:txBody>
        </p:sp>
        <p:sp>
          <p:nvSpPr>
            <p:cNvPr id="128" name="Google Shape;164;p7"/>
            <p:cNvSpPr/>
            <p:nvPr/>
          </p:nvSpPr>
          <p:spPr>
            <a:xfrm>
              <a:off x="504720" y="4381560"/>
              <a:ext cx="8133840" cy="776160"/>
            </a:xfrm>
            <a:prstGeom prst="roundRect">
              <a:avLst>
                <a:gd name="adj" fmla="val 10000"/>
              </a:avLst>
            </a:prstGeom>
            <a:solidFill>
              <a:srgbClr val="cdd4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Google Shape;165;p7"/>
            <p:cNvSpPr/>
            <p:nvPr/>
          </p:nvSpPr>
          <p:spPr>
            <a:xfrm>
              <a:off x="739800" y="4556520"/>
              <a:ext cx="426960" cy="426960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Google Shape;166;p7"/>
            <p:cNvSpPr/>
            <p:nvPr/>
          </p:nvSpPr>
          <p:spPr>
            <a:xfrm>
              <a:off x="1401840" y="4381560"/>
              <a:ext cx="7237080" cy="77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Google Shape;167;p7"/>
            <p:cNvSpPr/>
            <p:nvPr/>
          </p:nvSpPr>
          <p:spPr>
            <a:xfrm>
              <a:off x="1401840" y="4381560"/>
              <a:ext cx="7237080" cy="77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2080" rIns="82080" tIns="82080" bIns="82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IN" sz="22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Module 3: Job Search &amp; Application System</a:t>
              </a:r>
              <a:endParaRPr b="0" lang="en-IN" sz="2200" spc="-1" strike="noStrike">
                <a:latin typeface="Arial"/>
              </a:endParaRPr>
            </a:p>
          </p:txBody>
        </p:sp>
        <p:sp>
          <p:nvSpPr>
            <p:cNvPr id="132" name="Google Shape;168;p7"/>
            <p:cNvSpPr/>
            <p:nvPr/>
          </p:nvSpPr>
          <p:spPr>
            <a:xfrm>
              <a:off x="504720" y="5352480"/>
              <a:ext cx="8133840" cy="776160"/>
            </a:xfrm>
            <a:prstGeom prst="roundRect">
              <a:avLst>
                <a:gd name="adj" fmla="val 10000"/>
              </a:avLst>
            </a:prstGeom>
            <a:solidFill>
              <a:srgbClr val="cdd4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Google Shape;169;p7"/>
            <p:cNvSpPr/>
            <p:nvPr/>
          </p:nvSpPr>
          <p:spPr>
            <a:xfrm>
              <a:off x="739800" y="5527440"/>
              <a:ext cx="426960" cy="426960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Google Shape;170;p7"/>
            <p:cNvSpPr/>
            <p:nvPr/>
          </p:nvSpPr>
          <p:spPr>
            <a:xfrm>
              <a:off x="1401840" y="5352480"/>
              <a:ext cx="7237080" cy="77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Google Shape;171;p7"/>
            <p:cNvSpPr/>
            <p:nvPr/>
          </p:nvSpPr>
          <p:spPr>
            <a:xfrm>
              <a:off x="1401840" y="5352480"/>
              <a:ext cx="7237080" cy="77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2080" rIns="82080" tIns="82080" bIns="82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IN" sz="22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Module 4: Admin Panel &amp; Reports</a:t>
              </a:r>
              <a:endParaRPr b="0" lang="en-IN" sz="22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Num" idx="17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D64A3A-9420-4777-B621-5976FB6C2F41}" type="slidenum">
              <a:rPr b="0" lang="en-IN" sz="900" spc="-1" strike="noStrike">
                <a:solidFill>
                  <a:srgbClr val="888888"/>
                </a:solidFill>
                <a:latin typeface="Calibri"/>
                <a:ea typeface="Calibri"/>
              </a:rPr>
              <a:t>5</a:t>
            </a:fld>
            <a:endParaRPr b="0" lang="en-IN" sz="900" spc="-1" strike="noStrike">
              <a:latin typeface="Times New Roman"/>
            </a:endParaRPr>
          </a:p>
        </p:txBody>
      </p:sp>
      <p:pic>
        <p:nvPicPr>
          <p:cNvPr id="137" name="Google Shape;293;p23" descr="SSE-Computer Science and Engineering"/>
          <p:cNvPicPr/>
          <p:nvPr/>
        </p:nvPicPr>
        <p:blipFill>
          <a:blip r:embed="rId1"/>
          <a:stretch/>
        </p:blipFill>
        <p:spPr>
          <a:xfrm>
            <a:off x="1093320" y="228600"/>
            <a:ext cx="7238520" cy="1109160"/>
          </a:xfrm>
          <a:prstGeom prst="rect">
            <a:avLst/>
          </a:prstGeom>
          <a:ln w="0">
            <a:noFill/>
          </a:ln>
        </p:spPr>
      </p:pic>
      <p:pic>
        <p:nvPicPr>
          <p:cNvPr id="138" name="Google Shape;294;p23" descr="A black text on a white background&#10;&#10;AI-generated content may be incorrect."/>
          <p:cNvPicPr/>
          <p:nvPr/>
        </p:nvPicPr>
        <p:blipFill>
          <a:blip r:embed="rId2"/>
          <a:stretch/>
        </p:blipFill>
        <p:spPr>
          <a:xfrm>
            <a:off x="2586240" y="3013200"/>
            <a:ext cx="3971160" cy="1667520"/>
          </a:xfrm>
          <a:prstGeom prst="rect">
            <a:avLst/>
          </a:prstGeom>
          <a:ln w="9525">
            <a:solidFill>
              <a:srgbClr val="c00000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View_PPTX_PLUS/7.4.0.3$Windows_X86_64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2000-07-06T15:05:59Z</dcterms:created>
  <dc:creator>kalid</dc:creator>
  <dc:description/>
  <dc:language>en-IN</dc:language>
  <cp:lastModifiedBy/>
  <dcterms:modified xsi:type="dcterms:W3CDTF">2026-07-21T13:04:18Z</dcterms:modified>
  <cp:revision>1</cp:revision>
  <dc:subject/>
  <dc:title/>
</cp:coreProperties>
</file>